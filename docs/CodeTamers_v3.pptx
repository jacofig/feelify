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6" r:id="rId12"/>
    <p:sldId id="267" r:id="rId13"/>
  </p:sldIdLst>
  <p:sldSz cx="9144000" cy="5143500" type="screen16x9"/>
  <p:notesSz cx="5143500" cy="9144000"/>
  <p:embeddedFontLst>
    <p:embeddedFont>
      <p:font typeface="Geist" panose="020B0604020202020204" charset="-18"/>
      <p:regular r:id="rId15"/>
    </p:embeddedFont>
    <p:embeddedFont>
      <p:font typeface="Inter Bold" panose="020B0604020202020204" charset="0"/>
      <p:regular r:id="rId16"/>
    </p:embeddedFont>
  </p:embeddedFontLst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F5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2096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svg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az 5">
            <a:extLst>
              <a:ext uri="{FF2B5EF4-FFF2-40B4-BE49-F238E27FC236}">
                <a16:creationId xmlns:a16="http://schemas.microsoft.com/office/drawing/2014/main" id="{3AAC44FC-AE69-065E-FAE3-B86AFC8FA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3285" y="493540"/>
            <a:ext cx="442183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674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Programowanie jako kompetencja przyszłości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12817" y="1138535"/>
            <a:ext cx="6433457" cy="255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Współczesny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rynek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pracy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coraz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bardziej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opiera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się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na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kompetencjach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cyfrowych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Programowanie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wykorzystywane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w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sztucznej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inteligencji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analizie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danych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automatyzacji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staje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się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kluczową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umiejętnością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Wraz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z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rozwojem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narzędzi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AI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zmienia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się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sposób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pracy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programistów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–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ważniejsze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jest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czytanie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analizowanie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weryfikowanie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kodu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niż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tylko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jego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pisanie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100" dirty="0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085F358C-C980-DC44-BC46-175060E54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87" y="2061228"/>
            <a:ext cx="3982664" cy="2588732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D7E506E8-864E-851A-584F-555E2CE97D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196" y="2061229"/>
            <a:ext cx="4531842" cy="2588731"/>
          </a:xfrm>
          <a:prstGeom prst="rect">
            <a:avLst/>
          </a:prstGeom>
        </p:spPr>
      </p:pic>
      <p:sp>
        <p:nvSpPr>
          <p:cNvPr id="11" name="Prostokąt 10">
            <a:extLst>
              <a:ext uri="{FF2B5EF4-FFF2-40B4-BE49-F238E27FC236}">
                <a16:creationId xmlns:a16="http://schemas.microsoft.com/office/drawing/2014/main" id="{8193E02C-1FB4-3961-6FEC-644D68B1F0B6}"/>
              </a:ext>
            </a:extLst>
          </p:cNvPr>
          <p:cNvSpPr/>
          <p:nvPr/>
        </p:nvSpPr>
        <p:spPr>
          <a:xfrm>
            <a:off x="8040189" y="4846320"/>
            <a:ext cx="1018902" cy="233853"/>
          </a:xfrm>
          <a:prstGeom prst="rect">
            <a:avLst/>
          </a:prstGeom>
          <a:solidFill>
            <a:srgbClr val="DFF5E9"/>
          </a:solidFill>
          <a:ln>
            <a:solidFill>
              <a:srgbClr val="DFF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31244" y="363959"/>
            <a:ext cx="3052837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674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4489" y="896913"/>
            <a:ext cx="7794947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Pomimo rosnącego znaczenia programowania, tradycyjne metody nauczania często prowadzą do rezygnacji już na początkowym etapie.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496047" y="1437903"/>
            <a:ext cx="1923157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674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Główne wyzwania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74489" y="1784672"/>
            <a:ext cx="3852490" cy="628278"/>
          </a:xfrm>
          <a:prstGeom prst="roundRect">
            <a:avLst>
              <a:gd name="adj" fmla="val 16183"/>
            </a:avLst>
          </a:prstGeom>
          <a:solidFill>
            <a:srgbClr val="D1EFE4"/>
          </a:solidFill>
          <a:ln w="4763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792212" y="1902396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Abstrakcja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92212" y="2132856"/>
            <a:ext cx="361704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Trudność w zrozumieniu abstrakcyjnych pojęć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616946" y="1784672"/>
            <a:ext cx="3852490" cy="628278"/>
          </a:xfrm>
          <a:prstGeom prst="roundRect">
            <a:avLst>
              <a:gd name="adj" fmla="val 16183"/>
            </a:avLst>
          </a:prstGeom>
          <a:solidFill>
            <a:srgbClr val="D1EFE4"/>
          </a:solidFill>
          <a:ln w="4763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4734669" y="1902396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Motywacja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34669" y="2132856"/>
            <a:ext cx="361704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Szybki spadek zaangażowania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74489" y="2502917"/>
            <a:ext cx="3852490" cy="628278"/>
          </a:xfrm>
          <a:prstGeom prst="roundRect">
            <a:avLst>
              <a:gd name="adj" fmla="val 16183"/>
            </a:avLst>
          </a:prstGeom>
          <a:solidFill>
            <a:srgbClr val="D1EFE4"/>
          </a:solidFill>
          <a:ln w="4763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792212" y="2620640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Monotonia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92212" y="2851100"/>
            <a:ext cx="361704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Powtarzalność zadań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16946" y="2502917"/>
            <a:ext cx="3852490" cy="628278"/>
          </a:xfrm>
          <a:prstGeom prst="roundRect">
            <a:avLst>
              <a:gd name="adj" fmla="val 16183"/>
            </a:avLst>
          </a:prstGeom>
          <a:solidFill>
            <a:srgbClr val="D1EFE4"/>
          </a:solidFill>
          <a:ln w="4763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4734669" y="2620640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Kontekst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34669" y="2851100"/>
            <a:ext cx="361704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Brak praktycznego odniesienia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949550" y="3266182"/>
            <a:ext cx="3016225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674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Ograniczenia tradycyjnych metod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4489" y="3612952"/>
            <a:ext cx="2538338" cy="647328"/>
          </a:xfrm>
          <a:prstGeom prst="roundRect">
            <a:avLst>
              <a:gd name="adj" fmla="val 15707"/>
            </a:avLst>
          </a:prstGeom>
          <a:solidFill>
            <a:srgbClr val="E5F9F2">
              <a:alpha val="95000"/>
            </a:srgbClr>
          </a:solidFill>
          <a:ln w="14288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801737" y="3740200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Podręczniki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1737" y="3970660"/>
            <a:ext cx="2283842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Nauka oparta głównie na teorii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302794" y="3612952"/>
            <a:ext cx="2538338" cy="647328"/>
          </a:xfrm>
          <a:prstGeom prst="roundRect">
            <a:avLst>
              <a:gd name="adj" fmla="val 15707"/>
            </a:avLst>
          </a:prstGeom>
          <a:solidFill>
            <a:srgbClr val="E5F9F2">
              <a:alpha val="95000"/>
            </a:srgbClr>
          </a:solidFill>
          <a:ln w="14288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/>
          <p:nvPr/>
        </p:nvSpPr>
        <p:spPr>
          <a:xfrm>
            <a:off x="3430042" y="3740200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Teoria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30042" y="3970660"/>
            <a:ext cx="2283842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Zadania oderwane od rzeczywistości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931098" y="3612952"/>
            <a:ext cx="2538338" cy="647328"/>
          </a:xfrm>
          <a:prstGeom prst="roundRect">
            <a:avLst>
              <a:gd name="adj" fmla="val 15707"/>
            </a:avLst>
          </a:prstGeom>
          <a:solidFill>
            <a:srgbClr val="E5F9F2">
              <a:alpha val="95000"/>
            </a:srgbClr>
          </a:solidFill>
          <a:ln w="14288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Text 23"/>
          <p:cNvSpPr/>
          <p:nvPr/>
        </p:nvSpPr>
        <p:spPr>
          <a:xfrm>
            <a:off x="6058346" y="3740200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Brak wsparcia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58346" y="3970660"/>
            <a:ext cx="2283842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Brak natychmiastowej informacji zwrotnej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74489" y="4361483"/>
            <a:ext cx="7794947" cy="417984"/>
          </a:xfrm>
          <a:prstGeom prst="roundRect">
            <a:avLst>
              <a:gd name="adj" fmla="val 24325"/>
            </a:avLst>
          </a:prstGeom>
          <a:solidFill>
            <a:srgbClr val="FAA1A1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50" y="4522812"/>
            <a:ext cx="141163" cy="112961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041574" y="4479652"/>
            <a:ext cx="7772102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Efekt:</a:t>
            </a:r>
            <a:r>
              <a:rPr lang="en-US" sz="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wielu uczniów rezygnuje na wczesnym etapie nauki</a:t>
            </a:r>
            <a:endParaRPr lang="en-US" sz="850" dirty="0"/>
          </a:p>
        </p:txBody>
      </p:sp>
      <p:sp>
        <p:nvSpPr>
          <p:cNvPr id="31" name="Prostokąt 30">
            <a:extLst>
              <a:ext uri="{FF2B5EF4-FFF2-40B4-BE49-F238E27FC236}">
                <a16:creationId xmlns:a16="http://schemas.microsoft.com/office/drawing/2014/main" id="{FA018665-035D-6BC0-C0D4-4BEA15D8C62E}"/>
              </a:ext>
            </a:extLst>
          </p:cNvPr>
          <p:cNvSpPr/>
          <p:nvPr/>
        </p:nvSpPr>
        <p:spPr>
          <a:xfrm>
            <a:off x="8040189" y="4846320"/>
            <a:ext cx="1018902" cy="233853"/>
          </a:xfrm>
          <a:prstGeom prst="rect">
            <a:avLst/>
          </a:prstGeom>
          <a:solidFill>
            <a:srgbClr val="DFF5E9"/>
          </a:solidFill>
          <a:ln>
            <a:solidFill>
              <a:srgbClr val="DFF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49" y="567111"/>
            <a:ext cx="8229302" cy="476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674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Gry jako jedno z największych mediów interaktywnych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349" y="1472133"/>
            <a:ext cx="3955256" cy="1004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Gry komputerowe są obecnie jedną z najpopularniejszych form cyfrowej rozrywki na świecie. Dynamiczny rozwój branży oraz ogromna liczba graczy pokazują, że gry stały się ważnym elementem współczesnej kultury i codziennego korzystania z technologii.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36157" y="1472133"/>
            <a:ext cx="3955256" cy="1004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 przeciwieństwie do pasywnych form odbioru treści, takich jak filmy czy media społecznościowe, gry opierają się na aktywnej interakcji użytkownika z systemem. Gracz podejmuje decyzje, reaguje na zmieniające się sytuacje oraz obserwuje efekty swoich działań w czasie rzeczywistym.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349" y="2785616"/>
            <a:ext cx="4039344" cy="431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3.6B</a:t>
            </a:r>
            <a:endParaRPr lang="en-US" sz="3350" dirty="0"/>
          </a:p>
        </p:txBody>
      </p:sp>
      <p:sp>
        <p:nvSpPr>
          <p:cNvPr id="6" name="Text 4"/>
          <p:cNvSpPr/>
          <p:nvPr/>
        </p:nvSpPr>
        <p:spPr>
          <a:xfrm>
            <a:off x="1673686" y="3287298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Graczy na świecie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647233" y="2785616"/>
            <a:ext cx="4039419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$188.8B</a:t>
            </a:r>
            <a:endParaRPr lang="en-US" sz="3350" dirty="0"/>
          </a:p>
        </p:txBody>
      </p:sp>
      <p:sp>
        <p:nvSpPr>
          <p:cNvPr id="8" name="Text 6"/>
          <p:cNvSpPr/>
          <p:nvPr/>
        </p:nvSpPr>
        <p:spPr>
          <a:xfrm>
            <a:off x="5836703" y="3289809"/>
            <a:ext cx="1754163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Wartość rynku (2025)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28749" y="3712220"/>
            <a:ext cx="845790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4B4A4A"/>
                </a:solidFill>
                <a:latin typeface="Inter Bold" panose="020B0604020202020204" charset="0"/>
                <a:ea typeface="Geist" pitchFamily="34" charset="-122"/>
                <a:cs typeface="Geist" pitchFamily="34" charset="-120"/>
              </a:rPr>
              <a:t>Branża gier generuje większe przychody niż przemysł filmowy i muzyczny razem wzięte.</a:t>
            </a:r>
            <a:endParaRPr lang="en-US" sz="1400" dirty="0">
              <a:latin typeface="Inter Bold" panose="020B060402020202020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349" y="4048571"/>
            <a:ext cx="8229302" cy="728588"/>
          </a:xfrm>
          <a:prstGeom prst="roundRect">
            <a:avLst>
              <a:gd name="adj" fmla="val 16144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20" y="4245173"/>
            <a:ext cx="163339" cy="13067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82030" y="4201716"/>
            <a:ext cx="7673950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Kluczowa korzyść:</a:t>
            </a:r>
            <a:r>
              <a:rPr lang="en-US" sz="10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aktywna interakcja utrzymuje wysoki poziom zaangażowania i sprawia, że gry mogą skutecznie wspierać naukę oraz rozwijanie praktycznych umiejętności.</a:t>
            </a:r>
            <a:endParaRPr lang="en-US" sz="1000" dirty="0"/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B8CA1640-0D7C-C075-A007-AD4EAE2BF311}"/>
              </a:ext>
            </a:extLst>
          </p:cNvPr>
          <p:cNvSpPr/>
          <p:nvPr/>
        </p:nvSpPr>
        <p:spPr>
          <a:xfrm>
            <a:off x="8040189" y="4846320"/>
            <a:ext cx="1018902" cy="233853"/>
          </a:xfrm>
          <a:prstGeom prst="rect">
            <a:avLst/>
          </a:prstGeom>
          <a:solidFill>
            <a:srgbClr val="DFF5E9"/>
          </a:solidFill>
          <a:ln>
            <a:solidFill>
              <a:srgbClr val="DFF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75880" y="382860"/>
            <a:ext cx="3163565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674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CodeTamers 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643" y="895499"/>
            <a:ext cx="8100640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Projekt CodeTamers wykorzystuje elementy gry RPG do stworzenia bardziej angażującego środowiska nauki podstaw programowania, łącząc edukację z interaktywną rozgrywką, dzięki której użytkownik zdobywa wiedzę poprzez praktyczne działanie, zamiast wyłącznie wykonywania klasycznych ćwiczeń teoretycznych.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3210744" y="1685106"/>
            <a:ext cx="24937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674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Główne założenia projektu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1643" y="2051000"/>
            <a:ext cx="293489" cy="2934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21643" y="2466008"/>
            <a:ext cx="1614190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Nauka logiki programu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21643" y="2707704"/>
            <a:ext cx="2619152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Projekt skupia się na rozumieniu działania programu oraz analizie kodu, a nie wyłącznie na zapamiętywaniu składni języka.</a:t>
            </a:r>
            <a:endParaRPr lang="en-US" sz="9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2313" y="2051000"/>
            <a:ext cx="293489" cy="29348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62313" y="2466008"/>
            <a:ext cx="2293367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Składnia inspirowana Pythonem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3262313" y="2707704"/>
            <a:ext cx="2619226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Projekt wykorzystuje uproszczoną składnię inspirowaną Pythonem - językiem szeroko wykorzystywanym w AI i nowoczesnych technologiach.</a:t>
            </a:r>
            <a:endParaRPr lang="en-US" sz="9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03057" y="2051000"/>
            <a:ext cx="293489" cy="29348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03057" y="2466008"/>
            <a:ext cx="1820912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Nauka poprzez interakcję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6003057" y="2707704"/>
            <a:ext cx="2619152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Użytkownik zdobywa wiedzę poprzez działania bezpośrednio związane z mechaniką gry.</a:t>
            </a:r>
            <a:endParaRPr lang="en-US" sz="9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1643" y="3588841"/>
            <a:ext cx="293489" cy="29348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21643" y="4003849"/>
            <a:ext cx="20866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Eksperymentowanie i analiza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521643" y="4245546"/>
            <a:ext cx="2619152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Gracz może samodzielnie testować rozwiązania oraz obserwować efekty działania kodu.</a:t>
            </a:r>
            <a:endParaRPr lang="en-US" sz="9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62313" y="3588841"/>
            <a:ext cx="293489" cy="29348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262313" y="4003849"/>
            <a:ext cx="174314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Motywacja użytkownika</a:t>
            </a:r>
            <a:endParaRPr lang="en-US" sz="1150" dirty="0"/>
          </a:p>
        </p:txBody>
      </p:sp>
      <p:sp>
        <p:nvSpPr>
          <p:cNvPr id="19" name="Text 12"/>
          <p:cNvSpPr/>
          <p:nvPr/>
        </p:nvSpPr>
        <p:spPr>
          <a:xfrm>
            <a:off x="3262313" y="4245546"/>
            <a:ext cx="2619226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Elementy progresji i rozwoju postaci mają zachęcać do dalszej nauki oraz eksplorowania kolejnych zagadnień.</a:t>
            </a:r>
            <a:endParaRPr lang="en-US" sz="9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03057" y="3588841"/>
            <a:ext cx="293489" cy="293489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003057" y="4003849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Styl retro / pixel-art</a:t>
            </a:r>
            <a:endParaRPr lang="en-US" sz="1150" dirty="0"/>
          </a:p>
        </p:txBody>
      </p:sp>
      <p:sp>
        <p:nvSpPr>
          <p:cNvPr id="22" name="Text 14"/>
          <p:cNvSpPr/>
          <p:nvPr/>
        </p:nvSpPr>
        <p:spPr>
          <a:xfrm>
            <a:off x="6003057" y="4245546"/>
            <a:ext cx="2619152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Projekt wykorzystuje stylistykę inspirowaną klasycznymi grami RPG i retro gamingiem.</a:t>
            </a:r>
            <a:endParaRPr lang="en-US" sz="900" dirty="0"/>
          </a:p>
        </p:txBody>
      </p:sp>
      <p:sp>
        <p:nvSpPr>
          <p:cNvPr id="23" name="Prostokąt 22">
            <a:extLst>
              <a:ext uri="{FF2B5EF4-FFF2-40B4-BE49-F238E27FC236}">
                <a16:creationId xmlns:a16="http://schemas.microsoft.com/office/drawing/2014/main" id="{447D26AC-AC78-6D6A-C833-10FF3EF4629F}"/>
              </a:ext>
            </a:extLst>
          </p:cNvPr>
          <p:cNvSpPr/>
          <p:nvPr/>
        </p:nvSpPr>
        <p:spPr>
          <a:xfrm>
            <a:off x="8040189" y="4846320"/>
            <a:ext cx="1018902" cy="233853"/>
          </a:xfrm>
          <a:prstGeom prst="rect">
            <a:avLst/>
          </a:prstGeom>
          <a:solidFill>
            <a:srgbClr val="DFF5E9"/>
          </a:solidFill>
          <a:ln>
            <a:solidFill>
              <a:srgbClr val="DFF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6041" y="1247254"/>
            <a:ext cx="4074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674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Główna koncepcja gry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1939" y="2044601"/>
            <a:ext cx="216820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674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Wcielasz się w trenera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407816"/>
            <a:ext cx="2188443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Gracz przemierza świat, pomaga mieszkańcom miasteczka, podejmuje się różnorodnych wyzwań w formie minigier i łamigłówek oraz odkrywa sekret tajemniczej anomali.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014811" y="2044601"/>
            <a:ext cx="20006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674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Walka przez kod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035201" y="2407816"/>
            <a:ext cx="2188443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Gracz pisze kod określający strategię stworzenia – instrukcje warunkowe, pętle, logika decyzyjna, podstawowe algorytmy wpływają na wynik walki.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29705" y="425574"/>
            <a:ext cx="505591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674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Główne funkcjonalności gry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364679"/>
            <a:ext cx="2622724" cy="1723579"/>
          </a:xfrm>
          <a:prstGeom prst="roundRect">
            <a:avLst>
              <a:gd name="adj" fmla="val 5305"/>
            </a:avLst>
          </a:prstGeom>
          <a:solidFill>
            <a:srgbClr val="E5F9F2">
              <a:alpha val="95000"/>
            </a:srgbClr>
          </a:solidFill>
          <a:ln w="19050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496119" y="1345629"/>
            <a:ext cx="2622724" cy="76200"/>
          </a:xfrm>
          <a:prstGeom prst="roundRect">
            <a:avLst>
              <a:gd name="adj" fmla="val 167442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1594805" y="1152079"/>
            <a:ext cx="425276" cy="425276"/>
          </a:xfrm>
          <a:prstGeom prst="roundRect">
            <a:avLst>
              <a:gd name="adj" fmla="val 134383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1722351" y="1258416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6927" y="1719039"/>
            <a:ext cx="23011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Gra 2D z otwartym światem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6927" y="2247007"/>
            <a:ext cx="23011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Eksploracja różnych lokacji i interakcja z elementami świata gry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0601" y="1364679"/>
            <a:ext cx="2622724" cy="1723579"/>
          </a:xfrm>
          <a:prstGeom prst="roundRect">
            <a:avLst>
              <a:gd name="adj" fmla="val 5305"/>
            </a:avLst>
          </a:prstGeom>
          <a:solidFill>
            <a:srgbClr val="E5F9F2">
              <a:alpha val="95000"/>
            </a:srgbClr>
          </a:solidFill>
          <a:ln w="19050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Shape 8"/>
          <p:cNvSpPr/>
          <p:nvPr/>
        </p:nvSpPr>
        <p:spPr>
          <a:xfrm>
            <a:off x="3260601" y="1345629"/>
            <a:ext cx="2622724" cy="76200"/>
          </a:xfrm>
          <a:prstGeom prst="roundRect">
            <a:avLst>
              <a:gd name="adj" fmla="val 167442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Shape 9"/>
          <p:cNvSpPr/>
          <p:nvPr/>
        </p:nvSpPr>
        <p:spPr>
          <a:xfrm>
            <a:off x="4359287" y="1152079"/>
            <a:ext cx="425276" cy="425276"/>
          </a:xfrm>
          <a:prstGeom prst="roundRect">
            <a:avLst>
              <a:gd name="adj" fmla="val 134383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4486833" y="1258416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1410" y="1719039"/>
            <a:ext cx="23011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Sekwencyjny system walki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21410" y="2247007"/>
            <a:ext cx="23011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System walki oparty na wykonywaniu kodu napisanego przez gracza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25083" y="1364679"/>
            <a:ext cx="2622724" cy="1723579"/>
          </a:xfrm>
          <a:prstGeom prst="roundRect">
            <a:avLst>
              <a:gd name="adj" fmla="val 5305"/>
            </a:avLst>
          </a:prstGeom>
          <a:solidFill>
            <a:srgbClr val="E5F9F2">
              <a:alpha val="95000"/>
            </a:srgbClr>
          </a:solidFill>
          <a:ln w="19050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Shape 14"/>
          <p:cNvSpPr/>
          <p:nvPr/>
        </p:nvSpPr>
        <p:spPr>
          <a:xfrm>
            <a:off x="6025083" y="1345629"/>
            <a:ext cx="2622724" cy="76200"/>
          </a:xfrm>
          <a:prstGeom prst="roundRect">
            <a:avLst>
              <a:gd name="adj" fmla="val 167442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7" name="Shape 15"/>
          <p:cNvSpPr/>
          <p:nvPr/>
        </p:nvSpPr>
        <p:spPr>
          <a:xfrm>
            <a:off x="7123770" y="1152079"/>
            <a:ext cx="425276" cy="425276"/>
          </a:xfrm>
          <a:prstGeom prst="roundRect">
            <a:avLst>
              <a:gd name="adj" fmla="val 134383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7251316" y="1258416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85892" y="171903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craftingu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185892" y="2025551"/>
            <a:ext cx="23011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Wywoływanie sekwencji komend zgodnie z recepturą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6119" y="3442618"/>
            <a:ext cx="4004965" cy="1275308"/>
          </a:xfrm>
          <a:prstGeom prst="roundRect">
            <a:avLst>
              <a:gd name="adj" fmla="val 7170"/>
            </a:avLst>
          </a:prstGeom>
          <a:solidFill>
            <a:srgbClr val="E5F9F2">
              <a:alpha val="95000"/>
            </a:srgbClr>
          </a:solidFill>
          <a:ln w="19050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Shape 20"/>
          <p:cNvSpPr/>
          <p:nvPr/>
        </p:nvSpPr>
        <p:spPr>
          <a:xfrm>
            <a:off x="496119" y="3423568"/>
            <a:ext cx="4004965" cy="76200"/>
          </a:xfrm>
          <a:prstGeom prst="roundRect">
            <a:avLst>
              <a:gd name="adj" fmla="val 167442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3" name="Shape 21"/>
          <p:cNvSpPr/>
          <p:nvPr/>
        </p:nvSpPr>
        <p:spPr>
          <a:xfrm>
            <a:off x="2285963" y="3230017"/>
            <a:ext cx="425276" cy="425276"/>
          </a:xfrm>
          <a:prstGeom prst="roundRect">
            <a:avLst>
              <a:gd name="adj" fmla="val 134383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4" name="Text 22"/>
          <p:cNvSpPr/>
          <p:nvPr/>
        </p:nvSpPr>
        <p:spPr>
          <a:xfrm>
            <a:off x="2413508" y="3336354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6927" y="3796978"/>
            <a:ext cx="229359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Różnorodność aktywności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56927" y="4103489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Minigry zręcznościowe, łamigłówki logiczne, różne typy wyzwań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42842" y="3442618"/>
            <a:ext cx="4004965" cy="1275308"/>
          </a:xfrm>
          <a:prstGeom prst="roundRect">
            <a:avLst>
              <a:gd name="adj" fmla="val 7170"/>
            </a:avLst>
          </a:prstGeom>
          <a:solidFill>
            <a:srgbClr val="E5F9F2">
              <a:alpha val="95000"/>
            </a:srgbClr>
          </a:solidFill>
          <a:ln w="19050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8" name="Shape 26"/>
          <p:cNvSpPr/>
          <p:nvPr/>
        </p:nvSpPr>
        <p:spPr>
          <a:xfrm>
            <a:off x="4642842" y="3423568"/>
            <a:ext cx="4004965" cy="76200"/>
          </a:xfrm>
          <a:prstGeom prst="roundRect">
            <a:avLst>
              <a:gd name="adj" fmla="val 167442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9" name="Shape 27"/>
          <p:cNvSpPr/>
          <p:nvPr/>
        </p:nvSpPr>
        <p:spPr>
          <a:xfrm>
            <a:off x="6432686" y="3230017"/>
            <a:ext cx="425276" cy="425276"/>
          </a:xfrm>
          <a:prstGeom prst="roundRect">
            <a:avLst>
              <a:gd name="adj" fmla="val 134383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0" name="Text 28"/>
          <p:cNvSpPr/>
          <p:nvPr/>
        </p:nvSpPr>
        <p:spPr>
          <a:xfrm>
            <a:off x="6560232" y="3336354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03651" y="379697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progresji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803651" y="4103489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Zapisywanie postępu gracza, rozwijanie stworzeń, system nagród</a:t>
            </a:r>
            <a:endParaRPr lang="en-US" sz="1100" dirty="0"/>
          </a:p>
        </p:txBody>
      </p:sp>
      <p:sp>
        <p:nvSpPr>
          <p:cNvPr id="33" name="Prostokąt 32">
            <a:extLst>
              <a:ext uri="{FF2B5EF4-FFF2-40B4-BE49-F238E27FC236}">
                <a16:creationId xmlns:a16="http://schemas.microsoft.com/office/drawing/2014/main" id="{E7CD89B5-9F57-5C12-5D16-5B1B507591B6}"/>
              </a:ext>
            </a:extLst>
          </p:cNvPr>
          <p:cNvSpPr/>
          <p:nvPr/>
        </p:nvSpPr>
        <p:spPr>
          <a:xfrm>
            <a:off x="8040189" y="4846320"/>
            <a:ext cx="1018902" cy="233853"/>
          </a:xfrm>
          <a:prstGeom prst="rect">
            <a:avLst/>
          </a:prstGeom>
          <a:solidFill>
            <a:srgbClr val="DFF5E9"/>
          </a:solidFill>
          <a:ln>
            <a:solidFill>
              <a:srgbClr val="DFF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96480" y="376014"/>
            <a:ext cx="4522366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674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Wykorzystane technologie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1014" y="1025351"/>
            <a:ext cx="392013" cy="3920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0178" y="1567904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Unity Engine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57349" y="1844278"/>
            <a:ext cx="4039344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Silnik gry zapewniający narzędzia do tworzenia 2D i systemów fizyki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0898" y="1025351"/>
            <a:ext cx="392013" cy="3920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50136" y="1567904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C#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4647233" y="1844278"/>
            <a:ext cx="403941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Logika gry i implementacja mechanik programistycznych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1014" y="2486918"/>
            <a:ext cx="392013" cy="39201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60178" y="3029471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Aseprite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457349" y="3305845"/>
            <a:ext cx="4039344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Tworzenie sprite’ów, animacji oraz assetów 2D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0898" y="2486918"/>
            <a:ext cx="392013" cy="39201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850136" y="3029471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Discord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4647233" y="3305845"/>
            <a:ext cx="403941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Komunikacja zespołowa i koordynacja prac projektowych</a:t>
            </a:r>
            <a:endParaRPr lang="en-US" sz="1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81014" y="3747641"/>
            <a:ext cx="392013" cy="39201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660178" y="4290194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457349" y="4566568"/>
            <a:ext cx="4039344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Kontrola wersji kodu i współpraca zespołu</a:t>
            </a:r>
            <a:endParaRPr lang="en-US" sz="10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0898" y="3747641"/>
            <a:ext cx="392013" cy="39201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850136" y="4290194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Kanban</a:t>
            </a:r>
            <a:endParaRPr lang="en-US" sz="1250" dirty="0"/>
          </a:p>
        </p:txBody>
      </p:sp>
      <p:sp>
        <p:nvSpPr>
          <p:cNvPr id="20" name="Text 12"/>
          <p:cNvSpPr/>
          <p:nvPr/>
        </p:nvSpPr>
        <p:spPr>
          <a:xfrm>
            <a:off x="4647233" y="4566568"/>
            <a:ext cx="403941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Organizacja projektu i śledzenie postępu zadań</a:t>
            </a:r>
            <a:endParaRPr lang="en-US" sz="1000" dirty="0"/>
          </a:p>
        </p:txBody>
      </p:sp>
      <p:sp>
        <p:nvSpPr>
          <p:cNvPr id="21" name="Prostokąt 20">
            <a:extLst>
              <a:ext uri="{FF2B5EF4-FFF2-40B4-BE49-F238E27FC236}">
                <a16:creationId xmlns:a16="http://schemas.microsoft.com/office/drawing/2014/main" id="{98CD65B8-74B0-239A-66CA-ADBCA1627868}"/>
              </a:ext>
            </a:extLst>
          </p:cNvPr>
          <p:cNvSpPr/>
          <p:nvPr/>
        </p:nvSpPr>
        <p:spPr>
          <a:xfrm>
            <a:off x="8040189" y="4846320"/>
            <a:ext cx="1018902" cy="233853"/>
          </a:xfrm>
          <a:prstGeom prst="rect">
            <a:avLst/>
          </a:prstGeom>
          <a:solidFill>
            <a:srgbClr val="DFF5E9"/>
          </a:solidFill>
          <a:ln>
            <a:solidFill>
              <a:srgbClr val="DFF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5200000" cy="40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l-PL" sz="2800" b="1" dirty="0">
                <a:solidFill>
                  <a:srgbClr val="00674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Największe wyzwanie</a:t>
            </a:r>
            <a:endParaRPr lang="pl-PL" sz="2800" dirty="0"/>
          </a:p>
        </p:txBody>
      </p:sp>
      <p:sp>
        <p:nvSpPr>
          <p:cNvPr id="3" name="TextBody"/>
          <p:cNvSpPr/>
          <p:nvPr/>
        </p:nvSpPr>
        <p:spPr>
          <a:xfrm>
            <a:off x="457200" y="800000"/>
            <a:ext cx="5250000" cy="15317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40000"/>
              </a:lnSpc>
              <a:buNone/>
            </a:pPr>
            <a:endParaRPr lang="pl-PL" sz="1400" dirty="0">
              <a:solidFill>
                <a:srgbClr val="2D2D2D"/>
              </a:solidFill>
              <a:latin typeface="Inter Bold" pitchFamily="34" charset="0"/>
            </a:endParaRPr>
          </a:p>
        </p:txBody>
      </p:sp>
      <p:pic>
        <p:nvPicPr>
          <p:cNvPr id="4" name="Image batt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2717" y="938211"/>
            <a:ext cx="2576420" cy="1775122"/>
          </a:xfrm>
          <a:prstGeom prst="rect">
            <a:avLst/>
          </a:prstGeom>
        </p:spPr>
      </p:pic>
      <p:pic>
        <p:nvPicPr>
          <p:cNvPr id="6" name="Image porta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106" y="938211"/>
            <a:ext cx="2576420" cy="1775122"/>
          </a:xfrm>
          <a:prstGeom prst="rect">
            <a:avLst/>
          </a:prstGeom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98379D94-9167-D393-CEB8-3C4116F13CE7}"/>
              </a:ext>
            </a:extLst>
          </p:cNvPr>
          <p:cNvSpPr txBox="1"/>
          <p:nvPr/>
        </p:nvSpPr>
        <p:spPr>
          <a:xfrm>
            <a:off x="407068" y="832657"/>
            <a:ext cx="3052842" cy="3389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pl-PL" sz="1100" dirty="0">
                <a:solidFill>
                  <a:srgbClr val="2D2D2D"/>
                </a:solidFill>
                <a:latin typeface="Geist" panose="020B0604020202020204" charset="-18"/>
                <a:cs typeface="Geist" panose="020B0604020202020204" charset="-18"/>
              </a:rPr>
              <a:t>Choć projekt wymagał implementacji wielu mechanik programistycznych, największym wyzwaniem okazało się przygotowanie warstwy wizualnej. Tworzenie grafik w stylu </a:t>
            </a:r>
            <a:r>
              <a:rPr lang="pl-PL" sz="1100" dirty="0" err="1">
                <a:solidFill>
                  <a:srgbClr val="2D2D2D"/>
                </a:solidFill>
                <a:latin typeface="Geist" panose="020B0604020202020204" charset="-18"/>
                <a:cs typeface="Geist" panose="020B0604020202020204" charset="-18"/>
              </a:rPr>
              <a:t>pixel</a:t>
            </a:r>
            <a:r>
              <a:rPr lang="pl-PL" sz="1100" dirty="0">
                <a:solidFill>
                  <a:srgbClr val="2D2D2D"/>
                </a:solidFill>
                <a:latin typeface="Geist" panose="020B0604020202020204" charset="-18"/>
                <a:cs typeface="Geist" panose="020B0604020202020204" charset="-18"/>
              </a:rPr>
              <a:t>-art, </a:t>
            </a:r>
            <a:r>
              <a:rPr lang="pl-PL" sz="1100" dirty="0" err="1">
                <a:solidFill>
                  <a:srgbClr val="2D2D2D"/>
                </a:solidFill>
                <a:latin typeface="Geist" panose="020B0604020202020204" charset="-18"/>
                <a:cs typeface="Geist" panose="020B0604020202020204" charset="-18"/>
              </a:rPr>
              <a:t>sprite’ów</a:t>
            </a:r>
            <a:r>
              <a:rPr lang="pl-PL" sz="1100" dirty="0">
                <a:solidFill>
                  <a:srgbClr val="2D2D2D"/>
                </a:solidFill>
                <a:latin typeface="Geist" panose="020B0604020202020204" charset="-18"/>
                <a:cs typeface="Geist" panose="020B0604020202020204" charset="-18"/>
              </a:rPr>
              <a:t>, animacji oraz elementów interfejsu użytkownika było najbardziej czasochłonną częścią prac. </a:t>
            </a:r>
            <a:r>
              <a:rPr lang="pl-PL" sz="1100" dirty="0" err="1">
                <a:solidFill>
                  <a:srgbClr val="2D2D2D"/>
                </a:solidFill>
                <a:latin typeface="Geist" panose="020B0604020202020204" charset="-18"/>
                <a:cs typeface="Geist" panose="020B0604020202020204" charset="-18"/>
              </a:rPr>
              <a:t>Assety</a:t>
            </a:r>
            <a:r>
              <a:rPr lang="pl-PL" sz="1100" dirty="0">
                <a:solidFill>
                  <a:srgbClr val="2D2D2D"/>
                </a:solidFill>
                <a:latin typeface="Geist" panose="020B0604020202020204" charset="-18"/>
                <a:cs typeface="Geist" panose="020B0604020202020204" charset="-18"/>
              </a:rPr>
              <a:t> były tworzone ręcznie, piksel po pikselu, co wymagało dużej precyzji, cierpliwości oraz wielu iteracji. Dodatkowym wyzwaniem było zachowanie spójnego stylu wizualnego całej gry oraz dostosowywanie grafik do zmieniających się mechanik i potrzeb projektu.</a:t>
            </a: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427D23C8-0AD1-5B2D-1580-6B2AFA463668}"/>
              </a:ext>
            </a:extLst>
          </p:cNvPr>
          <p:cNvSpPr/>
          <p:nvPr/>
        </p:nvSpPr>
        <p:spPr>
          <a:xfrm>
            <a:off x="8040189" y="4846320"/>
            <a:ext cx="1018902" cy="233853"/>
          </a:xfrm>
          <a:prstGeom prst="rect">
            <a:avLst/>
          </a:prstGeom>
          <a:solidFill>
            <a:srgbClr val="DFF5E9"/>
          </a:solidFill>
          <a:ln>
            <a:solidFill>
              <a:srgbClr val="DFF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F5293E0C-8434-AAF0-59B5-0F934B15D7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3563" y="2807625"/>
            <a:ext cx="4434840" cy="20858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24795" y="493514"/>
            <a:ext cx="3865811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674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Możliwe rozszerzenia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80640" y="1188690"/>
            <a:ext cx="2638871" cy="1772320"/>
          </a:xfrm>
          <a:prstGeom prst="roundRect">
            <a:avLst>
              <a:gd name="adj" fmla="val 6974"/>
            </a:avLst>
          </a:prstGeom>
          <a:solidFill>
            <a:srgbClr val="D1EFE4"/>
          </a:solidFill>
          <a:ln w="4763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622697" y="1330747"/>
            <a:ext cx="411956" cy="411956"/>
          </a:xfrm>
          <a:prstGeom prst="roundRect">
            <a:avLst>
              <a:gd name="adj" fmla="val 13871454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5955" y="1444005"/>
            <a:ext cx="185365" cy="1853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2697" y="1875681"/>
            <a:ext cx="2354759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Bardziej zaawansowany język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22697" y="2384524"/>
            <a:ext cx="2354759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Programowanie obiektowe, struktury danych i zaawansowana logika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52490" y="1188690"/>
            <a:ext cx="2638946" cy="1772320"/>
          </a:xfrm>
          <a:prstGeom prst="roundRect">
            <a:avLst>
              <a:gd name="adj" fmla="val 6974"/>
            </a:avLst>
          </a:prstGeom>
          <a:solidFill>
            <a:srgbClr val="D1EFE4"/>
          </a:solidFill>
          <a:ln w="4763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Shape 6"/>
          <p:cNvSpPr/>
          <p:nvPr/>
        </p:nvSpPr>
        <p:spPr>
          <a:xfrm>
            <a:off x="3394546" y="1330747"/>
            <a:ext cx="411956" cy="411956"/>
          </a:xfrm>
          <a:prstGeom prst="roundRect">
            <a:avLst>
              <a:gd name="adj" fmla="val 13871454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07804" y="1444005"/>
            <a:ext cx="185365" cy="18536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94546" y="1875681"/>
            <a:ext cx="232350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Rozbudowany system walki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394546" y="2169988"/>
            <a:ext cx="2354833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Nowe mechaniki walki i dynamiczne zachowania algorytmów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024414" y="1188690"/>
            <a:ext cx="2638946" cy="1772320"/>
          </a:xfrm>
          <a:prstGeom prst="roundRect">
            <a:avLst>
              <a:gd name="adj" fmla="val 6974"/>
            </a:avLst>
          </a:prstGeom>
          <a:solidFill>
            <a:srgbClr val="D1EFE4"/>
          </a:solidFill>
          <a:ln w="4763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Shape 10"/>
          <p:cNvSpPr/>
          <p:nvPr/>
        </p:nvSpPr>
        <p:spPr>
          <a:xfrm>
            <a:off x="6166470" y="1330747"/>
            <a:ext cx="411956" cy="411956"/>
          </a:xfrm>
          <a:prstGeom prst="roundRect">
            <a:avLst>
              <a:gd name="adj" fmla="val 13871454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79728" y="1444005"/>
            <a:ext cx="185365" cy="18536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66470" y="1875681"/>
            <a:ext cx="2334146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Rozbudowany świat i fabuła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166470" y="2169988"/>
            <a:ext cx="2354833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Nowe lokacje, zadania i immersyjne środowisko gry, dodatkowe aktywności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80640" y="3093988"/>
            <a:ext cx="2638871" cy="1555998"/>
          </a:xfrm>
          <a:prstGeom prst="roundRect">
            <a:avLst>
              <a:gd name="adj" fmla="val 7944"/>
            </a:avLst>
          </a:prstGeom>
          <a:solidFill>
            <a:srgbClr val="D1EFE4"/>
          </a:solidFill>
          <a:ln w="4763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Shape 14"/>
          <p:cNvSpPr/>
          <p:nvPr/>
        </p:nvSpPr>
        <p:spPr>
          <a:xfrm>
            <a:off x="622697" y="3236044"/>
            <a:ext cx="411956" cy="411956"/>
          </a:xfrm>
          <a:prstGeom prst="roundRect">
            <a:avLst>
              <a:gd name="adj" fmla="val 13871454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5955" y="3349303"/>
            <a:ext cx="185365" cy="18536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2697" y="3780979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Tryb multiplayer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22697" y="4075286"/>
            <a:ext cx="2354759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Rywalizacja między graczami i wspólne wyzwania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3252490" y="3093988"/>
            <a:ext cx="2638946" cy="1555998"/>
          </a:xfrm>
          <a:prstGeom prst="roundRect">
            <a:avLst>
              <a:gd name="adj" fmla="val 7944"/>
            </a:avLst>
          </a:prstGeom>
          <a:solidFill>
            <a:srgbClr val="D1EFE4"/>
          </a:solidFill>
          <a:ln w="4763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Shape 18"/>
          <p:cNvSpPr/>
          <p:nvPr/>
        </p:nvSpPr>
        <p:spPr>
          <a:xfrm>
            <a:off x="3394546" y="3236044"/>
            <a:ext cx="411956" cy="411956"/>
          </a:xfrm>
          <a:prstGeom prst="roundRect">
            <a:avLst>
              <a:gd name="adj" fmla="val 13871454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07804" y="3349303"/>
            <a:ext cx="185365" cy="18536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394546" y="3780979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Globalny ranking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3394546" y="4075286"/>
            <a:ext cx="2354833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System rankingowy, leaderboardy i specjalne wydarzenia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6024414" y="3093988"/>
            <a:ext cx="2638946" cy="1555998"/>
          </a:xfrm>
          <a:prstGeom prst="roundRect">
            <a:avLst>
              <a:gd name="adj" fmla="val 7944"/>
            </a:avLst>
          </a:prstGeom>
          <a:solidFill>
            <a:srgbClr val="D1EFE4"/>
          </a:solidFill>
          <a:ln w="4763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Shape 22"/>
          <p:cNvSpPr/>
          <p:nvPr/>
        </p:nvSpPr>
        <p:spPr>
          <a:xfrm>
            <a:off x="6166470" y="3236044"/>
            <a:ext cx="411956" cy="411956"/>
          </a:xfrm>
          <a:prstGeom prst="roundRect">
            <a:avLst>
              <a:gd name="adj" fmla="val 13871454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79728" y="3349303"/>
            <a:ext cx="185365" cy="185365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166470" y="3780979"/>
            <a:ext cx="1757363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Drzewo umiejętności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6166470" y="4075286"/>
            <a:ext cx="2354833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Odblokowywanie nowych mechanik trenera i tworzenia kodu</a:t>
            </a:r>
            <a:endParaRPr lang="en-US" sz="1050" dirty="0"/>
          </a:p>
        </p:txBody>
      </p:sp>
      <p:sp>
        <p:nvSpPr>
          <p:cNvPr id="33" name="Prostokąt 32">
            <a:extLst>
              <a:ext uri="{FF2B5EF4-FFF2-40B4-BE49-F238E27FC236}">
                <a16:creationId xmlns:a16="http://schemas.microsoft.com/office/drawing/2014/main" id="{49DB0110-3D97-5695-B465-02958250F406}"/>
              </a:ext>
            </a:extLst>
          </p:cNvPr>
          <p:cNvSpPr/>
          <p:nvPr/>
        </p:nvSpPr>
        <p:spPr>
          <a:xfrm>
            <a:off x="8040189" y="4846320"/>
            <a:ext cx="1018902" cy="233853"/>
          </a:xfrm>
          <a:prstGeom prst="rect">
            <a:avLst/>
          </a:prstGeom>
          <a:solidFill>
            <a:srgbClr val="DFF5E9"/>
          </a:solidFill>
          <a:ln>
            <a:solidFill>
              <a:srgbClr val="DFF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6489" y="314548"/>
            <a:ext cx="2702272" cy="282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674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Jak powstawał projekt</a:t>
            </a:r>
            <a:endParaRPr lang="en-US" sz="1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89" y="833140"/>
            <a:ext cx="2667298" cy="1920404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489" y="2854747"/>
            <a:ext cx="2705026" cy="1785565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14503" y="847204"/>
            <a:ext cx="112961" cy="112961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4714503" y="1010766"/>
            <a:ext cx="3759622" cy="14288"/>
          </a:xfrm>
          <a:prstGeom prst="rect">
            <a:avLst/>
          </a:prstGeom>
          <a:solidFill>
            <a:srgbClr val="00674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7" name="Text 2"/>
          <p:cNvSpPr/>
          <p:nvPr/>
        </p:nvSpPr>
        <p:spPr>
          <a:xfrm>
            <a:off x="4714503" y="1095821"/>
            <a:ext cx="1852613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 - System kontroli wersji</a:t>
            </a:r>
            <a:endParaRPr lang="en-US" sz="1100" dirty="0"/>
          </a:p>
        </p:txBody>
      </p:sp>
      <p:sp>
        <p:nvSpPr>
          <p:cNvPr id="8" name="Text 3"/>
          <p:cNvSpPr/>
          <p:nvPr/>
        </p:nvSpPr>
        <p:spPr>
          <a:xfrm>
            <a:off x="4714503" y="1362298"/>
            <a:ext cx="3759622" cy="389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Wdrożenie systemu kontroli wersji dla efektywnej współpracy nad kodem i śledzenia zmian. Regularne prowadzenie dokumentacji projektu, w tym cotygodniowych backlogów i raportów postępów</a:t>
            </a:r>
            <a:endParaRPr lang="en-US" sz="7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14503" y="1940793"/>
            <a:ext cx="112961" cy="112961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4714503" y="2104355"/>
            <a:ext cx="3759622" cy="14288"/>
          </a:xfrm>
          <a:prstGeom prst="rect">
            <a:avLst/>
          </a:prstGeom>
          <a:solidFill>
            <a:srgbClr val="00674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Text 5"/>
          <p:cNvSpPr/>
          <p:nvPr/>
        </p:nvSpPr>
        <p:spPr>
          <a:xfrm>
            <a:off x="4714503" y="2189411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Spotkania online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4714503" y="2455887"/>
            <a:ext cx="3759622" cy="259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Regularne spotkania online dla omówienia postępów i bieżących wyzwań sprintu tygodniowego oraz sporządzanie raportów grupowych</a:t>
            </a:r>
            <a:endParaRPr lang="en-US" sz="7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14503" y="2904455"/>
            <a:ext cx="112961" cy="112961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4714503" y="3068017"/>
            <a:ext cx="3759622" cy="14288"/>
          </a:xfrm>
          <a:prstGeom prst="rect">
            <a:avLst/>
          </a:prstGeom>
          <a:solidFill>
            <a:srgbClr val="00674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5" name="Text 8"/>
          <p:cNvSpPr/>
          <p:nvPr/>
        </p:nvSpPr>
        <p:spPr>
          <a:xfrm>
            <a:off x="4714503" y="3153073"/>
            <a:ext cx="1916088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Kanban - Organizacja pracy</a:t>
            </a:r>
            <a:endParaRPr lang="en-US" sz="1100" dirty="0"/>
          </a:p>
        </p:txBody>
      </p:sp>
      <p:sp>
        <p:nvSpPr>
          <p:cNvPr id="16" name="Text 9"/>
          <p:cNvSpPr/>
          <p:nvPr/>
        </p:nvSpPr>
        <p:spPr>
          <a:xfrm>
            <a:off x="4714503" y="3419549"/>
            <a:ext cx="3759622" cy="259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Użycie tablicy Kanban do wizualizacji przepływu pracy, zarządzania zadaniami i priorytetyzacji.</a:t>
            </a:r>
            <a:endParaRPr lang="en-US" sz="7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14503" y="3868117"/>
            <a:ext cx="112961" cy="112961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4714503" y="4031679"/>
            <a:ext cx="3759622" cy="14288"/>
          </a:xfrm>
          <a:prstGeom prst="rect">
            <a:avLst/>
          </a:prstGeom>
          <a:solidFill>
            <a:srgbClr val="00674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9" name="Text 11"/>
          <p:cNvSpPr/>
          <p:nvPr/>
        </p:nvSpPr>
        <p:spPr>
          <a:xfrm>
            <a:off x="4714503" y="4116735"/>
            <a:ext cx="1547068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Spotkania stacjonarne</a:t>
            </a:r>
            <a:endParaRPr lang="en-US" sz="1100" dirty="0"/>
          </a:p>
        </p:txBody>
      </p:sp>
      <p:sp>
        <p:nvSpPr>
          <p:cNvPr id="20" name="Text 12"/>
          <p:cNvSpPr/>
          <p:nvPr/>
        </p:nvSpPr>
        <p:spPr>
          <a:xfrm>
            <a:off x="4714503" y="4383212"/>
            <a:ext cx="3759622" cy="259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Cotygodniowe spotkania osobiste w celu prezentacji kluczowych postępów, strategicznego planowania dalszych etapów oraz przydzielania zadań na kolejny sprint tygodniowy</a:t>
            </a:r>
            <a:endParaRPr lang="en-US" sz="700" dirty="0"/>
          </a:p>
        </p:txBody>
      </p:sp>
      <p:sp>
        <p:nvSpPr>
          <p:cNvPr id="21" name="Prostokąt 20">
            <a:extLst>
              <a:ext uri="{FF2B5EF4-FFF2-40B4-BE49-F238E27FC236}">
                <a16:creationId xmlns:a16="http://schemas.microsoft.com/office/drawing/2014/main" id="{20894BFB-80F1-6F37-3218-3EDFA9724FC7}"/>
              </a:ext>
            </a:extLst>
          </p:cNvPr>
          <p:cNvSpPr/>
          <p:nvPr/>
        </p:nvSpPr>
        <p:spPr>
          <a:xfrm>
            <a:off x="8040189" y="4846320"/>
            <a:ext cx="1018902" cy="233853"/>
          </a:xfrm>
          <a:prstGeom prst="rect">
            <a:avLst/>
          </a:prstGeom>
          <a:solidFill>
            <a:srgbClr val="DFF5E9"/>
          </a:solidFill>
          <a:ln>
            <a:solidFill>
              <a:srgbClr val="DFF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99407" y="1738982"/>
            <a:ext cx="411658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674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Dziękujemy za uwagę!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267519" y="2465487"/>
            <a:ext cx="8380363" cy="283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Chętnie odpowiemy na pytania i przedyskutujemy potencjalne możliwości rozwoju projektu.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571304" y="2961531"/>
            <a:ext cx="37727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674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Pytania?</a:t>
            </a:r>
            <a:endParaRPr lang="en-US" sz="2750" dirty="0"/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70ACA3A7-AF9B-CA61-ABFE-291498672D1D}"/>
              </a:ext>
            </a:extLst>
          </p:cNvPr>
          <p:cNvSpPr/>
          <p:nvPr/>
        </p:nvSpPr>
        <p:spPr>
          <a:xfrm>
            <a:off x="8040189" y="4846320"/>
            <a:ext cx="1018902" cy="233853"/>
          </a:xfrm>
          <a:prstGeom prst="rect">
            <a:avLst/>
          </a:prstGeom>
          <a:solidFill>
            <a:srgbClr val="DFF5E9"/>
          </a:solidFill>
          <a:ln>
            <a:solidFill>
              <a:srgbClr val="DFF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825</Words>
  <Application>Microsoft Office PowerPoint</Application>
  <PresentationFormat>Pokaz na ekranie (16:9)</PresentationFormat>
  <Paragraphs>118</Paragraphs>
  <Slides>12</Slides>
  <Notes>12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12</vt:i4>
      </vt:variant>
    </vt:vector>
  </HeadingPairs>
  <TitlesOfParts>
    <vt:vector size="16" baseType="lpstr">
      <vt:lpstr>Geist</vt:lpstr>
      <vt:lpstr>Arial</vt:lpstr>
      <vt:lpstr>Inter Bold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King</dc:creator>
  <cp:lastModifiedBy>Mateusz Kopala</cp:lastModifiedBy>
  <cp:revision>5</cp:revision>
  <dcterms:created xsi:type="dcterms:W3CDTF">2026-05-26T22:03:11Z</dcterms:created>
  <dcterms:modified xsi:type="dcterms:W3CDTF">2026-06-09T17:12:45Z</dcterms:modified>
</cp:coreProperties>
</file>