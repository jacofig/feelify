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Geist" panose="020B0604020202020204" charset="-18"/>
      <p:regular r:id="rId15"/>
    </p:embeddedFont>
    <p:embeddedFont>
      <p:font typeface="Inter Bold" panose="020B0604020202020204" charset="0"/>
      <p:regular r:id="rId16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09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3AAC44FC-AE69-065E-FAE3-B86AFC8FA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3285" y="493540"/>
            <a:ext cx="44218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Programowanie jako kompetencja przyszłości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12817" y="1138535"/>
            <a:ext cx="6433457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Współczesny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rynek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pracy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coraz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bardziej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opiera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się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kompetencjach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cyfrowych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Programowanie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wykorzystywane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sztucznej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inteligencji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analizie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danych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automatyzacji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staje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się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kluczową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umiejętnością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Wraz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z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rozwojem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narzędzi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AI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zmienia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się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sposób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pracy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programistów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–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ważniejsze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jest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czytanie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analizowanie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weryfikowanie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kodu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niż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tylko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jego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pisanie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1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85F358C-C980-DC44-BC46-175060E54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7" y="2061228"/>
            <a:ext cx="3982664" cy="2588732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D7E506E8-864E-851A-584F-555E2CE97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196" y="2061229"/>
            <a:ext cx="4531842" cy="2588731"/>
          </a:xfrm>
          <a:prstGeom prst="rect">
            <a:avLst/>
          </a:prstGeom>
        </p:spPr>
      </p:pic>
      <p:sp>
        <p:nvSpPr>
          <p:cNvPr id="11" name="Prostokąt 10">
            <a:extLst>
              <a:ext uri="{FF2B5EF4-FFF2-40B4-BE49-F238E27FC236}">
                <a16:creationId xmlns:a16="http://schemas.microsoft.com/office/drawing/2014/main" id="{8193E02C-1FB4-3961-6FEC-644D68B1F0B6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1244" y="363959"/>
            <a:ext cx="30528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896913"/>
            <a:ext cx="7794947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Pomimo rosnącego znaczenia programowania, tradycyjne metody nauczania często prowadzą do rezygnacji już na początkowym etapie.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96047" y="1437903"/>
            <a:ext cx="1923157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Główne wyzwania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4489" y="1784672"/>
            <a:ext cx="3852490" cy="628278"/>
          </a:xfrm>
          <a:prstGeom prst="roundRect">
            <a:avLst>
              <a:gd name="adj" fmla="val 1618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92212" y="190239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Abstrakcja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2212" y="2132856"/>
            <a:ext cx="361704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Trudność w zrozumieniu abstrakcyjnych pojęć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6946" y="1784672"/>
            <a:ext cx="3852490" cy="628278"/>
          </a:xfrm>
          <a:prstGeom prst="roundRect">
            <a:avLst>
              <a:gd name="adj" fmla="val 1618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734669" y="190239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Motywacja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4669" y="2132856"/>
            <a:ext cx="361704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Szybki spadek zaangażowania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74489" y="2502917"/>
            <a:ext cx="3852490" cy="628278"/>
          </a:xfrm>
          <a:prstGeom prst="roundRect">
            <a:avLst>
              <a:gd name="adj" fmla="val 1618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92212" y="262064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Monotonia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2212" y="2851100"/>
            <a:ext cx="361704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Powtarzalność zadań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6946" y="2502917"/>
            <a:ext cx="3852490" cy="628278"/>
          </a:xfrm>
          <a:prstGeom prst="roundRect">
            <a:avLst>
              <a:gd name="adj" fmla="val 1618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734669" y="262064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Kontekst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4669" y="2851100"/>
            <a:ext cx="361704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Brak praktycznego odniesienia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49550" y="3266182"/>
            <a:ext cx="3016225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Ograniczenia tradycyjnych metod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4489" y="3612952"/>
            <a:ext cx="2538338" cy="647328"/>
          </a:xfrm>
          <a:prstGeom prst="roundRect">
            <a:avLst>
              <a:gd name="adj" fmla="val 15707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801737" y="374020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Podręczniki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1737" y="3970660"/>
            <a:ext cx="22838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Nauka oparta głównie na teorii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02794" y="3612952"/>
            <a:ext cx="2538338" cy="647328"/>
          </a:xfrm>
          <a:prstGeom prst="roundRect">
            <a:avLst>
              <a:gd name="adj" fmla="val 15707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430042" y="374020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Teoria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30042" y="3970660"/>
            <a:ext cx="22838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Zadania oderwane od rzeczywistości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31098" y="3612952"/>
            <a:ext cx="2538338" cy="647328"/>
          </a:xfrm>
          <a:prstGeom prst="roundRect">
            <a:avLst>
              <a:gd name="adj" fmla="val 15707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058346" y="374020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Brak wsparcia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58346" y="3970660"/>
            <a:ext cx="22838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Brak natychmiastowej informacji zwrotnej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4489" y="4361483"/>
            <a:ext cx="7794947" cy="417984"/>
          </a:xfrm>
          <a:prstGeom prst="roundRect">
            <a:avLst>
              <a:gd name="adj" fmla="val 24325"/>
            </a:avLst>
          </a:prstGeom>
          <a:solidFill>
            <a:srgbClr val="FAA1A1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4522812"/>
            <a:ext cx="141163" cy="11296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41574" y="4479652"/>
            <a:ext cx="777210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Efekt: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wielu uczniów rezygnuje na wczesnym etapie nauki</a:t>
            </a:r>
            <a:endParaRPr lang="en-US" sz="850" dirty="0"/>
          </a:p>
        </p:txBody>
      </p:sp>
      <p:sp>
        <p:nvSpPr>
          <p:cNvPr id="31" name="Prostokąt 30">
            <a:extLst>
              <a:ext uri="{FF2B5EF4-FFF2-40B4-BE49-F238E27FC236}">
                <a16:creationId xmlns:a16="http://schemas.microsoft.com/office/drawing/2014/main" id="{FA018665-035D-6BC0-C0D4-4BEA15D8C62E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567111"/>
            <a:ext cx="8229302" cy="476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Gry jako jedno z największych mediów interaktywnych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349" y="1472133"/>
            <a:ext cx="3955256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Gry komputerowe są obecnie jedną z najpopularniejszych form cyfrowej rozrywki na świecie. Dynamiczny rozwój branży oraz ogromna liczba graczy pokazują, że gry stały się ważnym elementem współczesnej kultury i codziennego korzystania z technologii.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36157" y="1472133"/>
            <a:ext cx="3955256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 przeciwieństwie do pasywnych form odbioru treści, takich jak filmy czy media społecznościowe, gry opierają się na aktywnej interakcji użytkownika z systemem. Gracz podejmuje decyzje, reaguje na zmieniające się sytuacje oraz obserwuje efekty swoich działań w czasie rzeczywistym.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349" y="2785616"/>
            <a:ext cx="4039344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3.6B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1673686" y="328729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Graczy na świecie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47233" y="2785616"/>
            <a:ext cx="403941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$188.8B</a:t>
            </a:r>
            <a:endParaRPr lang="en-US" sz="3350" dirty="0"/>
          </a:p>
        </p:txBody>
      </p:sp>
      <p:sp>
        <p:nvSpPr>
          <p:cNvPr id="8" name="Text 6"/>
          <p:cNvSpPr/>
          <p:nvPr/>
        </p:nvSpPr>
        <p:spPr>
          <a:xfrm>
            <a:off x="5836703" y="3289809"/>
            <a:ext cx="17541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Wartość rynku (2025)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8749" y="3712220"/>
            <a:ext cx="84579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Inter Bold" panose="020B0604020202020204" charset="0"/>
                <a:ea typeface="Geist" pitchFamily="34" charset="-122"/>
                <a:cs typeface="Geist" pitchFamily="34" charset="-120"/>
              </a:rPr>
              <a:t>Branża gier generuje większe przychody niż przemysł filmowy i muzyczny razem wzięte.</a:t>
            </a:r>
            <a:endParaRPr lang="en-US" sz="1400" dirty="0">
              <a:latin typeface="Inter Bold" panose="020B0604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349" y="4048571"/>
            <a:ext cx="8229302" cy="728588"/>
          </a:xfrm>
          <a:prstGeom prst="roundRect">
            <a:avLst>
              <a:gd name="adj" fmla="val 1614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20" y="4245173"/>
            <a:ext cx="163339" cy="13067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2030" y="4201716"/>
            <a:ext cx="76739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Kluczowa korzyść:</a:t>
            </a:r>
            <a:r>
              <a:rPr lang="en-US" sz="1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aktywna interakcja utrzymuje wysoki poziom zaangażowania i sprawia, że gry mogą skutecznie wspierać naukę oraz rozwijanie praktycznych umiejętności.</a:t>
            </a:r>
            <a:endParaRPr lang="en-US" sz="1000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8CA1640-0D7C-C075-A007-AD4EAE2BF311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5880" y="382860"/>
            <a:ext cx="31635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CodeTamers 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895499"/>
            <a:ext cx="8100640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Projekt CodeTamers wykorzystuje elementy gry RPG do stworzenia bardziej angażującego środowiska nauki podstaw programowania, łącząc edukację z interaktywną rozgrywką, dzięki której użytkownik zdobywa wiedzę poprzez praktyczne działanie, zamiast wyłącznie wykonywania klasycznych ćwiczeń teoretycznych.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210744" y="1685106"/>
            <a:ext cx="24937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Główne założenia projektu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643" y="2051000"/>
            <a:ext cx="293489" cy="2934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643" y="2466008"/>
            <a:ext cx="161419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Nauka logiki programu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1643" y="2707704"/>
            <a:ext cx="2619152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Projekt skupia się na rozumieniu działania programu oraz analizie kodu, a nie wyłącznie na zapamiętywaniu składni języka.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2313" y="2051000"/>
            <a:ext cx="293489" cy="2934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2313" y="2466008"/>
            <a:ext cx="229336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Składnia inspirowana Pythonem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262313" y="2707704"/>
            <a:ext cx="2619226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Projekt wykorzystuje uproszczoną składnię inspirowaną Pythonem - językiem szeroko wykorzystywanym w AI i nowoczesnych technologiach.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3057" y="2051000"/>
            <a:ext cx="293489" cy="2934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03057" y="2466008"/>
            <a:ext cx="18209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Nauka poprzez interakcję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003057" y="2707704"/>
            <a:ext cx="261915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Użytkownik zdobywa wiedzę poprzez działania bezpośrednio związane z mechaniką gry.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43" y="3588841"/>
            <a:ext cx="293489" cy="29348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643" y="4003849"/>
            <a:ext cx="2086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Eksperymentowanie i analiza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21643" y="4245546"/>
            <a:ext cx="261915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Gracz może samodzielnie testować rozwiązania oraz obserwować efekty działania kodu.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2313" y="3588841"/>
            <a:ext cx="293489" cy="29348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62313" y="4003849"/>
            <a:ext cx="174314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Motywacja użytkownika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3262313" y="4245546"/>
            <a:ext cx="261922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Elementy progresji i rozwoju postaci mają zachęcać do dalszej nauki oraz eksplorowania kolejnych zagadnień.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3057" y="3588841"/>
            <a:ext cx="293489" cy="29348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03057" y="400384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Styl retro / pixel-art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6003057" y="4245546"/>
            <a:ext cx="261915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Projekt wykorzystuje stylistykę inspirowaną klasycznymi grami RPG i retro gamingiem.</a:t>
            </a:r>
            <a:endParaRPr lang="en-US" sz="900" dirty="0"/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447D26AC-AC78-6D6A-C833-10FF3EF4629F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041" y="1247254"/>
            <a:ext cx="4074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Główna koncepcja gry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1939" y="2044601"/>
            <a:ext cx="21682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Wcielasz się w trenera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407816"/>
            <a:ext cx="21884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Gracz przemierza świat, pomaga mieszkańcom miasteczka, podejmuje się różnorodnych wyzwań w formie minigier i łamigłówek oraz odkrywa sekret tajemniczej anomali.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014811" y="2044601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Walka przez kod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35201" y="2407816"/>
            <a:ext cx="21884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Gracz pisze kod określający strategię stworzenia – instrukcje warunkowe, pętle, logika decyzyjna, podstawowe algorytmy wpływają na wynik walki.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9705" y="425574"/>
            <a:ext cx="50559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Główne funkcjonalności gry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64679"/>
            <a:ext cx="2622724" cy="1723579"/>
          </a:xfrm>
          <a:prstGeom prst="roundRect">
            <a:avLst>
              <a:gd name="adj" fmla="val 530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96119" y="1345629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1594805" y="1152079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722351" y="12584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6927" y="1719039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 2D z otwartym światem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247007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Eksploracja różnych lokacji i interakcja z elementami świata gry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1364679"/>
            <a:ext cx="2622724" cy="1723579"/>
          </a:xfrm>
          <a:prstGeom prst="roundRect">
            <a:avLst>
              <a:gd name="adj" fmla="val 530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260601" y="1345629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4359287" y="1152079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486833" y="12584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1410" y="1719039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Sekwencyjny system walki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1410" y="2247007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walki oparty na wykonywaniu kodu napisanego przez gracza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083" y="1364679"/>
            <a:ext cx="2622724" cy="1723579"/>
          </a:xfrm>
          <a:prstGeom prst="roundRect">
            <a:avLst>
              <a:gd name="adj" fmla="val 530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025083" y="1345629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7123770" y="1152079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251316" y="12584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5892" y="17190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craftingu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85892" y="2025551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Wywoływanie sekwencji komend zgodnie z recepturą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3442618"/>
            <a:ext cx="4004965" cy="1275308"/>
          </a:xfrm>
          <a:prstGeom prst="roundRect">
            <a:avLst>
              <a:gd name="adj" fmla="val 7170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496119" y="3423568"/>
            <a:ext cx="4004965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2285963" y="3230017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2413508" y="333635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6927" y="3796978"/>
            <a:ext cx="2293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Różnorodność aktywności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6927" y="4103489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Minigry zręcznościowe, łamigłówki logiczne, różne typy wyzwań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42842" y="3442618"/>
            <a:ext cx="4004965" cy="1275308"/>
          </a:xfrm>
          <a:prstGeom prst="roundRect">
            <a:avLst>
              <a:gd name="adj" fmla="val 7170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4642842" y="3423568"/>
            <a:ext cx="4004965" cy="7620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6432686" y="3230017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6560232" y="333635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3651" y="37969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progresji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03651" y="4103489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Zapisywanie postępu gracza, rozwijanie stworzeń, system nagród</a:t>
            </a:r>
            <a:endParaRPr lang="en-US" sz="1100" dirty="0"/>
          </a:p>
        </p:txBody>
      </p:sp>
      <p:sp>
        <p:nvSpPr>
          <p:cNvPr id="33" name="Prostokąt 32">
            <a:extLst>
              <a:ext uri="{FF2B5EF4-FFF2-40B4-BE49-F238E27FC236}">
                <a16:creationId xmlns:a16="http://schemas.microsoft.com/office/drawing/2014/main" id="{E7CD89B5-9F57-5C12-5D16-5B1B507591B6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6480" y="376014"/>
            <a:ext cx="452236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Wykorzystane technologie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1014" y="1025351"/>
            <a:ext cx="392013" cy="392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178" y="156790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Unity Engine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349" y="1844278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Silnik gry zapewniający narzędzia do tworzenia 2D i systemów fizyki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0898" y="1025351"/>
            <a:ext cx="392013" cy="392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0136" y="156790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C#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7233" y="1844278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Logika gry i implementacja mechanik programistycznych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1014" y="2486918"/>
            <a:ext cx="392013" cy="392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0178" y="302947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Aseprite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349" y="3305845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Tworzenie sprite’ów, animacji oraz assetów 2D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0898" y="2486918"/>
            <a:ext cx="392013" cy="392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50136" y="302947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Discord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7233" y="3305845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Komunikacja zespołowa i koordynacja prac projektowych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1014" y="3747641"/>
            <a:ext cx="392013" cy="392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60178" y="429019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349" y="4566568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Kontrola wersji kodu i współpraca zespołu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0898" y="3747641"/>
            <a:ext cx="392013" cy="392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850136" y="429019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Kanban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7233" y="4566568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Organizacja projektu i śledzenie postępu zadań</a:t>
            </a:r>
            <a:endParaRPr lang="en-US" sz="1000" dirty="0"/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98CD65B8-74B0-239A-66CA-ADBCA1627868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4795" y="493514"/>
            <a:ext cx="3865811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Możliwe rozszerzenia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0640" y="1188690"/>
            <a:ext cx="2638871" cy="1772320"/>
          </a:xfrm>
          <a:prstGeom prst="roundRect">
            <a:avLst>
              <a:gd name="adj" fmla="val 697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622697" y="1330747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955" y="1444005"/>
            <a:ext cx="185365" cy="185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875681"/>
            <a:ext cx="2354759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Bardziej zaawansowany język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2697" y="2384524"/>
            <a:ext cx="235475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Programowanie obiektowe, struktury danych i zaawansowana logika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52490" y="1188690"/>
            <a:ext cx="2638946" cy="1772320"/>
          </a:xfrm>
          <a:prstGeom prst="roundRect">
            <a:avLst>
              <a:gd name="adj" fmla="val 697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3394546" y="1330747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7804" y="1444005"/>
            <a:ext cx="185365" cy="1853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4546" y="1875681"/>
            <a:ext cx="232350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Rozbudowany system walki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394546" y="2169988"/>
            <a:ext cx="235483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Nowe mechaniki walki i dynamiczne zachowania algorytmów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24414" y="1188690"/>
            <a:ext cx="2638946" cy="1772320"/>
          </a:xfrm>
          <a:prstGeom prst="roundRect">
            <a:avLst>
              <a:gd name="adj" fmla="val 697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0"/>
          <p:cNvSpPr/>
          <p:nvPr/>
        </p:nvSpPr>
        <p:spPr>
          <a:xfrm>
            <a:off x="6166470" y="1330747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9728" y="1444005"/>
            <a:ext cx="185365" cy="1853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470" y="1875681"/>
            <a:ext cx="233414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Rozbudowany świat i fabuła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470" y="2169988"/>
            <a:ext cx="235483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Nowe lokacje, zadania i immersyjne środowisko gry, dodatkowe aktywności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640" y="3093988"/>
            <a:ext cx="2638871" cy="1555998"/>
          </a:xfrm>
          <a:prstGeom prst="roundRect">
            <a:avLst>
              <a:gd name="adj" fmla="val 794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4"/>
          <p:cNvSpPr/>
          <p:nvPr/>
        </p:nvSpPr>
        <p:spPr>
          <a:xfrm>
            <a:off x="622697" y="3236044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955" y="3349303"/>
            <a:ext cx="185365" cy="1853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697" y="378097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Tryb multiplayer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2697" y="4075286"/>
            <a:ext cx="235475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Rywalizacja między graczami i wspólne wyzwania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52490" y="3093988"/>
            <a:ext cx="2638946" cy="1555998"/>
          </a:xfrm>
          <a:prstGeom prst="roundRect">
            <a:avLst>
              <a:gd name="adj" fmla="val 794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18"/>
          <p:cNvSpPr/>
          <p:nvPr/>
        </p:nvSpPr>
        <p:spPr>
          <a:xfrm>
            <a:off x="3394546" y="3236044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07804" y="3349303"/>
            <a:ext cx="185365" cy="1853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394546" y="378097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Globalny ranking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394546" y="4075286"/>
            <a:ext cx="235483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rankingowy, leaderboardy i specjalne wydarzenia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024414" y="3093988"/>
            <a:ext cx="2638946" cy="1555998"/>
          </a:xfrm>
          <a:prstGeom prst="roundRect">
            <a:avLst>
              <a:gd name="adj" fmla="val 7944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2"/>
          <p:cNvSpPr/>
          <p:nvPr/>
        </p:nvSpPr>
        <p:spPr>
          <a:xfrm>
            <a:off x="6166470" y="3236044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9728" y="3349303"/>
            <a:ext cx="185365" cy="18536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66470" y="3780979"/>
            <a:ext cx="175736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Drzewo umiejętności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166470" y="4075286"/>
            <a:ext cx="235483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Odblokowywanie nowych mechanik trenera i tworzenia kodu</a:t>
            </a:r>
            <a:endParaRPr lang="en-US" sz="1050" dirty="0"/>
          </a:p>
        </p:txBody>
      </p:sp>
      <p:sp>
        <p:nvSpPr>
          <p:cNvPr id="33" name="Prostokąt 32">
            <a:extLst>
              <a:ext uri="{FF2B5EF4-FFF2-40B4-BE49-F238E27FC236}">
                <a16:creationId xmlns:a16="http://schemas.microsoft.com/office/drawing/2014/main" id="{49DB0110-3D97-5695-B465-02958250F406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970" y="447526"/>
            <a:ext cx="34404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Zalety projektu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3878610" y="1023565"/>
            <a:ext cx="4815780" cy="928762"/>
          </a:xfrm>
          <a:prstGeom prst="roundRect">
            <a:avLst>
              <a:gd name="adj" fmla="val 12450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4011811" y="1156767"/>
            <a:ext cx="219395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Unikalne podejście do nauki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11811" y="1427262"/>
            <a:ext cx="454937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Połączenie programowania z mechanikami gry tworzy bardziej angażujące środowisko niż tradycyjne metody nauki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878610" y="2068711"/>
            <a:ext cx="4815780" cy="732830"/>
          </a:xfrm>
          <a:prstGeom prst="roundRect">
            <a:avLst>
              <a:gd name="adj" fmla="val 15778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4011811" y="2201912"/>
            <a:ext cx="26190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Stopniowe poznawanie koncepcji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11811" y="2472407"/>
            <a:ext cx="45493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Od prostych zmiennych po zaawansowane funkcje i klasy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78610" y="2917924"/>
            <a:ext cx="4815780" cy="928762"/>
          </a:xfrm>
          <a:prstGeom prst="roundRect">
            <a:avLst>
              <a:gd name="adj" fmla="val 12450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4011811" y="3051125"/>
            <a:ext cx="191303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Nauka poprzez praktykę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11811" y="3321621"/>
            <a:ext cx="454937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Gracz od razu wykorzystuje wiedzę w działaniu, zamiast uczyć się wyłącznie teorii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78610" y="3963070"/>
            <a:ext cx="4815780" cy="732830"/>
          </a:xfrm>
          <a:prstGeom prst="roundRect">
            <a:avLst>
              <a:gd name="adj" fmla="val 15778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4011811" y="4096271"/>
            <a:ext cx="230586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Eksperymentowanie z kodem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11811" y="4366766"/>
            <a:ext cx="45493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Możliwość testowania różnych podejść i natychmiastowa informacja zwrotna</a:t>
            </a:r>
            <a:endParaRPr lang="en-US" sz="1000" dirty="0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EF7B1DE2-9DB9-780E-3928-8E9F74B9B279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6489" y="314548"/>
            <a:ext cx="2702272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 powstawał projekt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833140"/>
            <a:ext cx="2667298" cy="192040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2854747"/>
            <a:ext cx="2705026" cy="178556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4503" y="847204"/>
            <a:ext cx="112961" cy="112961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714503" y="1010766"/>
            <a:ext cx="3759622" cy="14288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2"/>
          <p:cNvSpPr/>
          <p:nvPr/>
        </p:nvSpPr>
        <p:spPr>
          <a:xfrm>
            <a:off x="4714503" y="1095821"/>
            <a:ext cx="185261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- System kontroli wersji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4714503" y="1362298"/>
            <a:ext cx="3759622" cy="38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Wdrożenie systemu kontroli wersji dla efektywnej współpracy nad kodem i śledzenia zmian. Regularne prowadzenie dokumentacji projektu, w tym cotygodniowych backlogów i raportów postępów</a:t>
            </a:r>
            <a:endParaRPr lang="en-US" sz="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4503" y="1940793"/>
            <a:ext cx="112961" cy="112961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714503" y="2104355"/>
            <a:ext cx="3759622" cy="14288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5"/>
          <p:cNvSpPr/>
          <p:nvPr/>
        </p:nvSpPr>
        <p:spPr>
          <a:xfrm>
            <a:off x="4714503" y="218941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Spotkania online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714503" y="2455887"/>
            <a:ext cx="3759622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Regularne spotkania online dla omówienia postępów i bieżących wyzwań sprintu tygodniowego oraz sporządzanie raportów grupowych</a:t>
            </a:r>
            <a:endParaRPr lang="en-US" sz="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4503" y="2904455"/>
            <a:ext cx="112961" cy="11296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714503" y="3068017"/>
            <a:ext cx="3759622" cy="14288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8"/>
          <p:cNvSpPr/>
          <p:nvPr/>
        </p:nvSpPr>
        <p:spPr>
          <a:xfrm>
            <a:off x="4714503" y="3153073"/>
            <a:ext cx="191608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Kanban - Organizacja pracy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4714503" y="3419549"/>
            <a:ext cx="3759622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Użycie tablicy Kanban do wizualizacji przepływu pracy, zarządzania zadaniami i priorytetyzacji.</a:t>
            </a:r>
            <a:endParaRPr lang="en-US" sz="7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4503" y="3868117"/>
            <a:ext cx="112961" cy="112961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714503" y="4031679"/>
            <a:ext cx="3759622" cy="14288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1"/>
          <p:cNvSpPr/>
          <p:nvPr/>
        </p:nvSpPr>
        <p:spPr>
          <a:xfrm>
            <a:off x="4714503" y="4116735"/>
            <a:ext cx="154706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Spotkania stacjonarne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714503" y="4383212"/>
            <a:ext cx="3759622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Cotygodniowe spotkania osobiste w celu prezentacji kluczowych postępów, strategicznego planowania dalszych etapów oraz przydzielania zadań na kolejny sprint tygodniowy</a:t>
            </a:r>
            <a:endParaRPr lang="en-US" sz="700" dirty="0"/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20894BFB-80F1-6F37-3218-3EDFA9724FC7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9407" y="1738982"/>
            <a:ext cx="41165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Dziękujemy za uwagę!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2465487"/>
            <a:ext cx="83803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Chętnie odpowiemy na pytania i przedyskutujemy potencjalne możliwości rozwoju projektu.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571304" y="2961531"/>
            <a:ext cx="3772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Pytania?</a:t>
            </a:r>
            <a:endParaRPr lang="en-US" sz="2750" dirty="0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70ACA3A7-AF9B-CA61-ABFE-291498672D1D}"/>
              </a:ext>
            </a:extLst>
          </p:cNvPr>
          <p:cNvSpPr/>
          <p:nvPr/>
        </p:nvSpPr>
        <p:spPr>
          <a:xfrm>
            <a:off x="8040189" y="4846320"/>
            <a:ext cx="1018902" cy="233853"/>
          </a:xfrm>
          <a:prstGeom prst="rect">
            <a:avLst/>
          </a:prstGeom>
          <a:solidFill>
            <a:srgbClr val="DFF5E9"/>
          </a:solidFill>
          <a:ln>
            <a:solidFill>
              <a:srgbClr val="DFF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806</Words>
  <Application>Microsoft Office PowerPoint</Application>
  <PresentationFormat>Pokaz na ekranie (16:9)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Arial</vt:lpstr>
      <vt:lpstr>Inter Bold</vt:lpstr>
      <vt:lpstr>Geist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King</dc:creator>
  <cp:lastModifiedBy>Mateusz Kopala</cp:lastModifiedBy>
  <cp:revision>3</cp:revision>
  <dcterms:created xsi:type="dcterms:W3CDTF">2026-05-26T22:03:11Z</dcterms:created>
  <dcterms:modified xsi:type="dcterms:W3CDTF">2026-05-26T22:21:16Z</dcterms:modified>
</cp:coreProperties>
</file>